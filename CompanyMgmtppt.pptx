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31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89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31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49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22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59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4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94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6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25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0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66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E3A751-322A-3C4C-5BEC-A49EA3F1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D80572-BE4D-D9DA-2BC5-614EB8237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9582"/>
            <a:ext cx="10058400" cy="4019512"/>
          </a:xfrm>
        </p:spPr>
        <p:txBody>
          <a:bodyPr>
            <a:normAutofit lnSpcReduction="10000"/>
          </a:bodyPr>
          <a:lstStyle/>
          <a:p>
            <a:pPr>
              <a:spcAft>
                <a:spcPts val="2400"/>
              </a:spcAft>
            </a:pPr>
            <a:r>
              <a:rPr sz="2800" b="1" dirty="0">
                <a:latin typeface="Times New Roman"/>
              </a:rPr>
              <a:t>Project Title</a:t>
            </a:r>
            <a:r>
              <a:rPr sz="2800" b="1">
                <a:latin typeface="Times New Roman"/>
              </a:rPr>
              <a:t>: </a:t>
            </a:r>
            <a:endParaRPr lang="en-US" sz="2800" b="1" smtClean="0">
              <a:latin typeface="Times New Roman"/>
            </a:endParaRPr>
          </a:p>
          <a:p>
            <a:pPr>
              <a:spcAft>
                <a:spcPts val="2400"/>
              </a:spcAft>
            </a:pPr>
            <a:r>
              <a:rPr sz="2800" b="1" smtClean="0">
                <a:latin typeface="Times New Roman"/>
              </a:rPr>
              <a:t>Employee Performance</a:t>
            </a:r>
            <a:r>
              <a:rPr lang="en-US" sz="2800" b="1" smtClean="0">
                <a:latin typeface="Times New Roman"/>
              </a:rPr>
              <a:t> </a:t>
            </a:r>
            <a:r>
              <a:rPr sz="2800" b="1" smtClean="0">
                <a:latin typeface="Times New Roman"/>
              </a:rPr>
              <a:t>Management </a:t>
            </a:r>
            <a:r>
              <a:rPr sz="2800" b="1" dirty="0">
                <a:latin typeface="Times New Roman"/>
              </a:rPr>
              <a:t>System</a:t>
            </a:r>
            <a:endParaRPr lang="en-IN" dirty="0"/>
          </a:p>
          <a:p>
            <a:pPr>
              <a:spcAft>
                <a:spcPts val="2400"/>
              </a:spcAft>
            </a:pPr>
            <a:endParaRPr lang="en-IN" dirty="0"/>
          </a:p>
          <a:p>
            <a:pPr>
              <a:spcAft>
                <a:spcPts val="2400"/>
              </a:spcAft>
            </a:pPr>
            <a:endParaRPr lang="en-IN" dirty="0"/>
          </a:p>
          <a:p>
            <a:pPr algn="r"/>
            <a:r>
              <a:rPr sz="2800" b="1" dirty="0">
                <a:latin typeface="Times New Roman"/>
              </a:rPr>
              <a:t>Submitted By: </a:t>
            </a:r>
            <a:r>
              <a:rPr sz="2800" b="1" dirty="0" err="1">
                <a:latin typeface="Times New Roman"/>
              </a:rPr>
              <a:t>Minisha</a:t>
            </a:r>
            <a:r>
              <a:rPr sz="2800" b="1" dirty="0">
                <a:latin typeface="Times New Roman"/>
              </a:rPr>
              <a:t> </a:t>
            </a:r>
            <a:r>
              <a:rPr sz="2800" b="1" dirty="0" err="1" smtClean="0">
                <a:latin typeface="Times New Roman"/>
              </a:rPr>
              <a:t>Solanki</a:t>
            </a:r>
            <a:endParaRPr lang="en-US" sz="2800" b="1" dirty="0" smtClean="0">
              <a:latin typeface="Times New Roman"/>
            </a:endParaRPr>
          </a:p>
          <a:p>
            <a:pPr algn="r"/>
            <a:r>
              <a:rPr lang="en-US" sz="2800" b="1" dirty="0" err="1" smtClean="0">
                <a:latin typeface="Times New Roman"/>
              </a:rPr>
              <a:t>Anaiza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 smtClean="0">
                <a:latin typeface="Times New Roman"/>
              </a:rPr>
              <a:t>Hashmi</a:t>
            </a:r>
            <a:endParaRPr lang="en-US" sz="2800" b="1" dirty="0" smtClean="0">
              <a:latin typeface="Times New Roman"/>
            </a:endParaRPr>
          </a:p>
          <a:p>
            <a:pPr algn="r"/>
            <a:endParaRPr sz="2800" b="1" dirty="0">
              <a:latin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4397F45-8A95-DD51-6B78-4E6AAF9D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9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CE6DA65-2189-9307-A666-6CDD17FC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40EA25-A8C0-4F28-930A-6D55A8BF9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Title </a:t>
            </a:r>
            <a:r>
              <a:rPr sz="2400" b="1" dirty="0">
                <a:latin typeface="Times New Roman"/>
              </a:rPr>
              <a:t>&amp; Project Abstract</a:t>
            </a:r>
            <a:endParaRPr lang="en-IN" dirty="0"/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Project Overview and Abstract: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A corporate web application designed to automate, streamline, and secure the end-to-end performance review lifecycle.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Core Stack &amp; Technologies: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Engineered using the MERN stack (</a:t>
            </a:r>
            <a:r>
              <a:rPr sz="1500" b="0" i="0" dirty="0" err="1">
                <a:latin typeface="Times New Roman"/>
              </a:rPr>
              <a:t>MongoDB</a:t>
            </a:r>
            <a:r>
              <a:rPr sz="1500" b="0" i="0" dirty="0">
                <a:latin typeface="Times New Roman"/>
              </a:rPr>
              <a:t>, Express, React, Node.js) and </a:t>
            </a:r>
            <a:r>
              <a:rPr sz="1500" b="0" i="0" dirty="0" err="1">
                <a:latin typeface="Times New Roman"/>
              </a:rPr>
              <a:t>orchestratable</a:t>
            </a:r>
            <a:r>
              <a:rPr sz="1500" b="0" i="0" dirty="0">
                <a:latin typeface="Times New Roman"/>
              </a:rPr>
              <a:t> with </a:t>
            </a:r>
            <a:r>
              <a:rPr sz="1500" b="0" i="0" dirty="0" err="1">
                <a:latin typeface="Times New Roman"/>
              </a:rPr>
              <a:t>Docker</a:t>
            </a:r>
            <a:r>
              <a:rPr sz="1500" b="0" i="0" dirty="0">
                <a:latin typeface="Times New Roman"/>
              </a:rPr>
              <a:t> Compose.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Key Innovation - Hybrid Scoring System: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Blends subjective employee self-ratings and manager adjusted feedback with objective, system-tracked performance metrics (attendance, project counts, and hours worked).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8E75509-C512-6AA3-93FD-16933FFE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5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AD2770-4BE5-0475-9FC1-8D6397F2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087732-DCAD-BC63-A2C0-B051369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Problem </a:t>
            </a:r>
            <a:r>
              <a:rPr sz="2400" b="1" dirty="0">
                <a:latin typeface="Times New Roman"/>
              </a:rPr>
              <a:t>Statement &amp; Engineering Context</a:t>
            </a:r>
            <a:endParaRPr lang="en-IN" dirty="0"/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Traditional performance review processes are manual, slow, and opaque.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Managers waste hours manually compiling performance feedback on separate spreadsheets.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Employees lack visibility into their review progress and active cycle status.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Subjective reviews often override objective engineering performance metrics.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Key quantitative variables like attendance, hours worked, and completed projects are excluded.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Complex role permissions and security boundaries are required.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Employees must not access manager adjustments or HR appraisal remark sheets during the cycle.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HR requires strict authorization limits to set salary appraisal rates and recommendations.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655F560-6A10-770D-B5FB-3FC40BBE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0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CE3788F-F634-4E33-0465-6ACD5E1A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B7A4CB-031F-24D6-E5F4-CC9B3ED8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Pipeline </a:t>
            </a:r>
            <a:r>
              <a:rPr sz="2400" b="1" dirty="0">
                <a:latin typeface="Times New Roman"/>
              </a:rPr>
              <a:t>System Architecture</a:t>
            </a:r>
            <a:endParaRPr lang="en-IN" dirty="0"/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Standardized MERN Stack Architecture: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React Frontend: Developed using </a:t>
            </a:r>
            <a:r>
              <a:rPr sz="1500" b="0" i="0" dirty="0" err="1">
                <a:latin typeface="Times New Roman"/>
              </a:rPr>
              <a:t>Vite</a:t>
            </a:r>
            <a:r>
              <a:rPr sz="1500" b="0" i="0" dirty="0">
                <a:latin typeface="Times New Roman"/>
              </a:rPr>
              <a:t>, Tailwind CSS v3, and </a:t>
            </a:r>
            <a:r>
              <a:rPr sz="1500" b="0" i="0" dirty="0" err="1">
                <a:latin typeface="Times New Roman"/>
              </a:rPr>
              <a:t>Recharts</a:t>
            </a:r>
            <a:r>
              <a:rPr sz="1500" b="0" i="0" dirty="0">
                <a:latin typeface="Times New Roman"/>
              </a:rPr>
              <a:t> for graphs.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Express Backend: </a:t>
            </a:r>
            <a:r>
              <a:rPr sz="1500" b="0" i="0" dirty="0" err="1">
                <a:latin typeface="Times New Roman"/>
              </a:rPr>
              <a:t>RESTful</a:t>
            </a:r>
            <a:r>
              <a:rPr sz="1500" b="0" i="0" dirty="0">
                <a:latin typeface="Times New Roman"/>
              </a:rPr>
              <a:t> API built on Node.js handling authentication and review lifecycle.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</a:t>
            </a:r>
            <a:r>
              <a:rPr sz="1500" b="0" i="0" dirty="0" err="1">
                <a:latin typeface="Times New Roman"/>
              </a:rPr>
              <a:t>MongoDB</a:t>
            </a:r>
            <a:r>
              <a:rPr sz="1500" b="0" i="0" dirty="0">
                <a:latin typeface="Times New Roman"/>
              </a:rPr>
              <a:t>: Mongoose database modeling with User, Review, and Notification schemas.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Secure Workflow State Machine: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Workflow Path: Draft ➔ Submitted (Self-Assessment) ➔ Manager Reviewed ➔ HR Finalized.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JWT </a:t>
            </a:r>
            <a:r>
              <a:rPr sz="1500" b="0" i="0" dirty="0" err="1">
                <a:latin typeface="Times New Roman"/>
              </a:rPr>
              <a:t>Auth</a:t>
            </a:r>
            <a:r>
              <a:rPr sz="1500" b="0" i="0" dirty="0">
                <a:latin typeface="Times New Roman"/>
              </a:rPr>
              <a:t>: Restricts route access based on authenticated role permissions (Employee, Manager, HR).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Real-time Notification System: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Generates instant notifications for recipients when review items move to their queue.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4279C83-CAAE-BA4D-23B2-C3B89B92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>
            <a:normAutofit lnSpcReduction="10000"/>
          </a:bodyPr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Data </a:t>
            </a:r>
            <a:r>
              <a:rPr sz="2400" b="1" dirty="0">
                <a:latin typeface="Times New Roman"/>
              </a:rPr>
              <a:t>Engineering Pipeline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Performance Scoring Structure (1 to 5 scale):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Employee Self-Rating (40% weight): Average of employee's answers on 20 self-assessment questions.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Manager Rating (40% weight): Average of manager's adjusted scores on the same 20 questions.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System Metrics (20% weight): Automated system metrics calculated from database tracking: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Automated System Score Calculations:</a:t>
            </a:r>
          </a:p>
          <a:p>
            <a:pPr lvl="1">
              <a:spcAft>
                <a:spcPts val="300"/>
              </a:spcAft>
            </a:pPr>
            <a:r>
              <a:rPr sz="1500" b="0" i="0" dirty="0">
                <a:latin typeface="Times New Roman"/>
              </a:rPr>
              <a:t>• Attendance Score (40% weight): (Attendance % / 100) * 5</a:t>
            </a:r>
          </a:p>
          <a:p>
            <a:pPr lvl="1">
              <a:spcAft>
                <a:spcPts val="300"/>
              </a:spcAft>
            </a:pPr>
            <a:r>
              <a:rPr sz="1500" b="0" i="0" dirty="0">
                <a:latin typeface="Times New Roman"/>
              </a:rPr>
              <a:t>• Projects Score (30% weight): (min(Projects Contributed, 5) / 5) * 5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Working Hours Score (30% weight): (min(Hours Worked, 160) / 160) * 5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Weighted Scoring Integration Formula:</a:t>
            </a:r>
          </a:p>
          <a:p>
            <a:pPr lvl="1">
              <a:spcAft>
                <a:spcPts val="400"/>
              </a:spcAft>
            </a:pPr>
            <a:r>
              <a:rPr sz="1500" b="1" i="0" dirty="0">
                <a:latin typeface="Times New Roman"/>
              </a:rPr>
              <a:t>• Final Score = (Employee </a:t>
            </a:r>
            <a:r>
              <a:rPr sz="1500" b="1" i="0" dirty="0" err="1">
                <a:latin typeface="Times New Roman"/>
              </a:rPr>
              <a:t>Avg</a:t>
            </a:r>
            <a:r>
              <a:rPr sz="1500" b="1" i="0" dirty="0">
                <a:latin typeface="Times New Roman"/>
              </a:rPr>
              <a:t> * 0.4) + (Manager </a:t>
            </a:r>
            <a:r>
              <a:rPr sz="1500" b="1" i="0" dirty="0" err="1">
                <a:latin typeface="Times New Roman"/>
              </a:rPr>
              <a:t>Avg</a:t>
            </a:r>
            <a:r>
              <a:rPr sz="1500" b="1" i="0" dirty="0">
                <a:latin typeface="Times New Roman"/>
              </a:rPr>
              <a:t> * 0.4) + (System Score * 0.2)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Challenges </a:t>
            </a:r>
            <a:r>
              <a:rPr sz="2400" b="1" dirty="0">
                <a:latin typeface="Times New Roman"/>
              </a:rPr>
              <a:t>&amp; Solutions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Challenge 1: Data leakage and privilege escalation.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Solution: Enforced server-side JWT verification. Employee review endpoints restrict write access when status is not in 'Draft' state.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Challenge 2: Inconsistencies in manual override scoring.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Solution: Automated calculation of system scores with precise weighted integration (40-40-20), restricting manual changes to HR parameters.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Challenge 3: Real-time UI rendering of multi-role pipelines.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Solution: Designed dashboard panels (Employee/Manager/HR) with state indicators and real-time alerts.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Containerization </a:t>
            </a:r>
            <a:r>
              <a:rPr sz="2400" b="1" dirty="0">
                <a:latin typeface="Times New Roman"/>
              </a:rPr>
              <a:t>&amp; Model Serving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Multi-Container </a:t>
            </a:r>
            <a:r>
              <a:rPr sz="1800" b="1" i="0" dirty="0" err="1">
                <a:latin typeface="Times New Roman"/>
              </a:rPr>
              <a:t>Docker</a:t>
            </a:r>
            <a:r>
              <a:rPr sz="1800" b="1" i="0" dirty="0">
                <a:latin typeface="Times New Roman"/>
              </a:rPr>
              <a:t> Environment Setup: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Configured via </a:t>
            </a:r>
            <a:r>
              <a:rPr sz="1500" b="0" i="0" dirty="0" err="1">
                <a:latin typeface="Times New Roman"/>
              </a:rPr>
              <a:t>docker-compose.yml</a:t>
            </a:r>
            <a:r>
              <a:rPr sz="1500" b="0" i="0" dirty="0">
                <a:latin typeface="Times New Roman"/>
              </a:rPr>
              <a:t> for seamless orchestration of all software stacks.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Orchestrated Services and Mappings: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frontend: React/</a:t>
            </a:r>
            <a:r>
              <a:rPr sz="1500" b="0" i="0" dirty="0" err="1">
                <a:latin typeface="Times New Roman"/>
              </a:rPr>
              <a:t>Vite</a:t>
            </a:r>
            <a:r>
              <a:rPr sz="1500" b="0" i="0" dirty="0">
                <a:latin typeface="Times New Roman"/>
              </a:rPr>
              <a:t> development server container mapped to host port 3000.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backend: Node.js Express REST API server container mapped to host port 5000.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mongo: Official </a:t>
            </a:r>
            <a:r>
              <a:rPr sz="1500" b="0" i="0" dirty="0" err="1">
                <a:latin typeface="Times New Roman"/>
              </a:rPr>
              <a:t>MongoDB</a:t>
            </a:r>
            <a:r>
              <a:rPr sz="1500" b="0" i="0" dirty="0">
                <a:latin typeface="Times New Roman"/>
              </a:rPr>
              <a:t> database container mapped to default port 27017.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Networking and Variables Routing: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Containers communicate internally inside a </a:t>
            </a:r>
            <a:r>
              <a:rPr sz="1500" b="0" i="0" dirty="0" err="1">
                <a:latin typeface="Times New Roman"/>
              </a:rPr>
              <a:t>Docker</a:t>
            </a:r>
            <a:r>
              <a:rPr sz="1500" b="0" i="0" dirty="0">
                <a:latin typeface="Times New Roman"/>
              </a:rPr>
              <a:t> bridge network environment.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MONGO_URI connects backend directly to database container using </a:t>
            </a:r>
            <a:r>
              <a:rPr sz="1500" b="0" i="0" dirty="0" err="1">
                <a:latin typeface="Times New Roman"/>
              </a:rPr>
              <a:t>Docker</a:t>
            </a:r>
            <a:r>
              <a:rPr sz="1500" b="0" i="0" dirty="0">
                <a:latin typeface="Times New Roman"/>
              </a:rPr>
              <a:t> internal DNS.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Monitoring </a:t>
            </a:r>
            <a:r>
              <a:rPr sz="2400" b="1" dirty="0">
                <a:latin typeface="Times New Roman"/>
              </a:rPr>
              <a:t>UI &amp; Client Interface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Employee Performance Dashboard: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Interactive 20-question self-rating sheet utilizing sliders and text fields.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Displays real-time progress indicators (stepper) tracking appraisal status.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Manager Assessment Interface: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Provides direct lists of reporting employees and their current review progress.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Double-column layout allows comparing self-ratings side-by-side with adjustment sliders.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HR Appraisal Finalization Dashboard: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Multi-role score comparison workspace displaying employee, manager, and system metrics.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Decision panel for inputting salary increment percentage and promotion status.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>
            <a:normAutofit lnSpcReduction="10000"/>
          </a:bodyPr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Core </a:t>
            </a:r>
            <a:r>
              <a:rPr sz="2400" b="1" dirty="0">
                <a:latin typeface="Times New Roman"/>
              </a:rPr>
              <a:t>Technical Challenges &amp; Debugging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Concurrent State Machine Validations: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Strict server-side verification ensures reviews follow exact workflow sequences.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Prevent database inconsistencies and unauthorized edits to completed reviews.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Floating-Point Calculation Integrity: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Enforced strict score rounding and validation rules during 40-40-20 score compiling.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Workflow Audit Trail Tracking: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Saves </a:t>
            </a:r>
            <a:r>
              <a:rPr sz="1500" b="0" i="0" dirty="0" err="1">
                <a:latin typeface="Times New Roman"/>
              </a:rPr>
              <a:t>timestamped</a:t>
            </a:r>
            <a:r>
              <a:rPr sz="1500" b="0" i="0" dirty="0">
                <a:latin typeface="Times New Roman"/>
              </a:rPr>
              <a:t> entries of who modified which assessment fields at each stage.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Database Seeding and Script Testing: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Custom seed.js builds test profiles and system logs to test workflows immediately.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Development </a:t>
            </a:r>
            <a:r>
              <a:rPr sz="2400" b="1" dirty="0">
                <a:latin typeface="Times New Roman"/>
              </a:rPr>
              <a:t>&amp; Iteration Roadmap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Phase 1: Environment Configuration &amp; Data Modeling (Completed)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Built </a:t>
            </a:r>
            <a:r>
              <a:rPr sz="1500" b="0" i="0" dirty="0" err="1">
                <a:latin typeface="Times New Roman"/>
              </a:rPr>
              <a:t>MongoDB</a:t>
            </a:r>
            <a:r>
              <a:rPr sz="1500" b="0" i="0" dirty="0">
                <a:latin typeface="Times New Roman"/>
              </a:rPr>
              <a:t> schemas and established Express routes with JWT authorization.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Phase 2: Review Loop Workflow &amp; Adjustments (Completed)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Completed self-assessment form, manager sliders, and HR finalization console.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Phase 3: </a:t>
            </a:r>
            <a:r>
              <a:rPr sz="1800" b="1" i="0" dirty="0" err="1">
                <a:latin typeface="Times New Roman"/>
              </a:rPr>
              <a:t>Docker</a:t>
            </a:r>
            <a:r>
              <a:rPr sz="1800" b="1" i="0" dirty="0">
                <a:latin typeface="Times New Roman"/>
              </a:rPr>
              <a:t> Orchestration &amp; </a:t>
            </a:r>
            <a:r>
              <a:rPr sz="1800" b="1" i="0" dirty="0" err="1">
                <a:latin typeface="Times New Roman"/>
              </a:rPr>
              <a:t>Dev</a:t>
            </a:r>
            <a:r>
              <a:rPr sz="1800" b="1" i="0" dirty="0">
                <a:latin typeface="Times New Roman"/>
              </a:rPr>
              <a:t> Setup (Completed)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Configured </a:t>
            </a:r>
            <a:r>
              <a:rPr sz="1500" b="0" i="0" dirty="0" err="1">
                <a:latin typeface="Times New Roman"/>
              </a:rPr>
              <a:t>docker</a:t>
            </a:r>
            <a:r>
              <a:rPr sz="1500" b="0" i="0" dirty="0">
                <a:latin typeface="Times New Roman"/>
              </a:rPr>
              <a:t>-compose for mongo, backend API, and React frontend services.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Phase 4: Scaling &amp; Third-Party System Integrations (Planned)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Plan to integrate OAuth2/SAML SSO and export results to external systems.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</TotalTime>
  <Words>940</Words>
  <Application>Microsoft Office PowerPoint</Application>
  <PresentationFormat>Custom</PresentationFormat>
  <Paragraphs>89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Shreyas Pagare</dc:creator>
  <cp:lastModifiedBy>Minisha</cp:lastModifiedBy>
  <cp:revision>3</cp:revision>
  <dcterms:created xsi:type="dcterms:W3CDTF">2026-06-15T15:12:06Z</dcterms:created>
  <dcterms:modified xsi:type="dcterms:W3CDTF">2026-06-16T05:51:46Z</dcterms:modified>
</cp:coreProperties>
</file>